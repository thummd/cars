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36699"/>
                </a:solidFill>
              </a:defRPr>
            </a:pPr>
            <a:r>
              <a:t>DS3M-Causal: Regime-Switching Causal Discovery</a:t>
            </a:r>
            <a:br/>
            <a:r>
              <a:t>for Electricity Price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Combining Deep Switching State Space Models with Causal Structure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36699"/>
                </a:solidFill>
              </a:defRPr>
            </a:pPr>
            <a:r>
              <a:t>1. 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6699"/>
                </a:solidFill>
              </a:defRPr>
            </a:pPr>
            <a:r>
              <a:t>Why Electricity Price Estimation &amp; Prediction?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ESTIMATION TASK: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Given: X[0:t], Y[0:t-1]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Estimate: Y[t] (today's price)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Use case: Real-time analysis, missing data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PREDICTION TASK: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Given: X[0:t], Y[0:t]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Predict: Y[t+1] (tomorrow's price)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Use case: Trading,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WHY SWITCHING REGIMES?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Energy markets show structural breaks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Different dynamics during: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  * Peak vs off-peak hours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  * Summer vs winter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  * Normal vs crisis periods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Causal relationships CHANGE across regimes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Single-regime models miss dynamics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36699"/>
                </a:solidFill>
              </a:defRPr>
            </a:pPr>
            <a:r>
              <a:t>2. Technical Challenges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6699"/>
                </a:solidFill>
              </a:defRPr>
            </a:pPr>
            <a:r>
              <a:t>Technical Challenges in Energy Price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1. LATENT/UNOBSERVED VARIABLES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Market regimes not directly observable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Must infer regime from price behavior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Regime transitions follow Markov dynamics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2. NON-STATIONARY TRANSITIONS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Regime transition probabilities change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Standard HMMs assume fixed transitions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3. HIGH-FREQUENCY DATA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Hourly electricity prices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Strong autocorrelation structures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Intraday and weekly seasonality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4. NON-LINEAR DEPENDENCIES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Complex interactions between: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  * Renewable generation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  * Commodity prices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  * Load/demand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36699"/>
                </a:solidFill>
              </a:defRPr>
            </a:pPr>
            <a:r>
              <a:t>3. Literature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6699"/>
                </a:solidFill>
              </a:defRPr>
            </a:pPr>
            <a:r>
              <a:t>Model Comparison: Capabilities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651760" y="1188720"/>
          <a:ext cx="658367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79"/>
                <a:gridCol w="1097279"/>
                <a:gridCol w="1097279"/>
                <a:gridCol w="1097279"/>
                <a:gridCol w="1097279"/>
                <a:gridCol w="1097284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Regime 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Causal DAGs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Temporal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Non-Linear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Interpretable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ARIMA/VAR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MS-VAR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NOTEARS/GOLEM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DYNOTEARS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DS3M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FANTOM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DS3M-Causal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DS3M-Causal combines the best of DS3M (temporal modeling) and FANTOM (causal discovery)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36699"/>
                </a:solidFill>
              </a:defRPr>
            </a:pPr>
            <a:r>
              <a:t>4. Economic Relevance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6699"/>
                </a:solidFill>
              </a:defRPr>
            </a:pPr>
            <a:r>
              <a:t>Why Causal Models for Decision Making?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INTERPRETABILITY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Understand WHY prices change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Identify key drivers per regime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Communicate to stakeholders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Regulatory compliance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TRUSTWORTHINESS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Graphs validated by domain experts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Predictions grounded in economics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Detect spurious correlations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ROBUSTNESS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Causal models generalize better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  under distribution shift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Regime-specific DAGs adapt to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  changing conditions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More stable during market stress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BENEFIT: Knowing that 'wind -&gt; price'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is causal (not just correlated)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enables better hedging strategies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36699"/>
                </a:solidFill>
              </a:defRPr>
            </a:pPr>
            <a:r>
              <a:t>5.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6699"/>
                </a:solidFill>
              </a:defRPr>
            </a:pPr>
            <a:r>
              <a:t>Data Description: European Electricity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TARGET VARIABLES: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DE: German day-ahead (EUR/MWh)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FR: French day-ahead (EUR/MWh)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DE_FR: Joint modeling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FEATURES (18 total):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Generation: Wind, Solar, Hydro,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  Nuclear, Gas, Coal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Demand: Residual Load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Commodities: Gas, Coal, Carbon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Weather: Temperature, Rain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Temporal: Hour, Day of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DATA STATISTICS: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Period: 2019-2023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Frequency: Hourly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Train samples: 10,024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Test samples: 744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DE: Mean=89.5, Std=145.2 EUR/MWh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FR: Mean=102.3, Std=168.7 EUR/MWh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KEY CHARACTERISTICS: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Heavy tails, negative prices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Strong autocorrelation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Regime changes (2022 crisis)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36699"/>
                </a:solidFill>
              </a:defRPr>
            </a:pPr>
            <a:r>
              <a:t>6. Methodology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6699"/>
                </a:solidFill>
              </a:defRPr>
            </a:pPr>
            <a:r>
              <a:t>Model Overview: From DS3M to DS3M-Causal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DS3M_UV (Univariate)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Only uses target 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Autoregressive regime switching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Strong baseline for forecasting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DS3M_MV (Multivariate)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Uses features X and target 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Black-box emission network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No interpretable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DS3M-CAUSAL (OURS)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Combines DS3M + FANTOM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Key: Replace emission network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  with FANTOM's ICGNN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Learns SPARSE CAUSAL DAGs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  per regime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FANTOM_BEM (Baseline)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Bayesian EM for regimes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Full FANTOM causal discovery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6699"/>
                </a:solidFill>
              </a:defRPr>
            </a:pPr>
            <a:r>
              <a:t>DS3M-Causal: ELBO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EVIDENCE LOWER BOUND (ELBO):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L = E[log p(Y|X,z,d,A)] - KL[q(z,d|X,Y) || p(z,d)] + lambda_dag * h(A) + lambda_sparse * ||A||_1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COMPONENTS: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  - Reconstruction: ICGNN prediction Y_hat = f_ICGNN(X, W * A^(d))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  - DAG Constraint: h(A) = tr(exp(A*A)) - n = 0 (acyclicity)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  - Sparsity: ||A||_1 encourages sparse graphs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  - Regime Transition: p(d_t|d_{t-1}) = softmax(Phi)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KEY HYPERPARAMETERS: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  - lambda_dag = 100.0 (enforce acyclicity)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  - lambda_sparse = 0.01 (light sparsity to allow edge learning)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  - tau = 1.0 (Gumbel-Softmax temperature)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36699"/>
                </a:solidFill>
              </a:defRPr>
            </a:pPr>
            <a:r>
              <a:t>7. Numerical Results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6699"/>
                </a:solidFill>
              </a:defRPr>
            </a:pPr>
            <a:r>
              <a:t>Results: Estimation Task (Spearman rho)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103120" y="118872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Edges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DE d=2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DE d=3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FR d=2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FR d=3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DE_FR d=2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DS3M_UV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0.45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DS3M_MV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0.32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FANTOM_BEM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sparse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0.44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DS3M-Causal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0.44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DS3M-Causal: Best on DE (rho=0.75) with LOW VARIANCE (+-0.05). FR dominated by autoregressive models.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6699"/>
                </a:solidFill>
              </a:defRPr>
            </a:pPr>
            <a:r>
              <a:t>Results: Prediction Task (Spearman rho)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103120" y="1188720"/>
          <a:ext cx="7680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DE d=2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DE d=3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DE d=4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FR d=2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FR d=3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FR d=4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DS3M_UV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FANTOM_BEM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DS3M-Causal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0.41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Estimation-Prediction gap: DE -0.30, FR -0.02, DE_FR -0.28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6699"/>
                </a:solidFill>
              </a:defRPr>
            </a:pPr>
            <a:r>
              <a:t>Edge Statistics and Regime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LEARNED DAG SPARSITY: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Dataset    d    Avg Edges    Max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DE         2    10.7         648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DE         3    7.5          648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FR         2    7.0          648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FR         3    5.3          648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DE_FR      2    4.9          1458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Sparsity: &lt;2% of possible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REGIME COLLAPSE ISSUE: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Many runs: regime_collapsed=true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Model converges to 1 regime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Example: '0':9716, '1':0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SUCCESSFUL 2-REGIME DETECTION: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DE seed 789: 6291/3733 split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FR seed 456: 1299/8725 split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Regimes capture different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  market conditions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36699"/>
                </a:solidFill>
              </a:defRPr>
            </a:pPr>
            <a:r>
              <a:t>8. Discussion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6699"/>
                </a:solidFill>
              </a:defRPr>
            </a:pPr>
            <a:r>
              <a:t>What Drives Price Changes? Regime-Specific DAGs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REGIME 0 (Normal Market):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Main drivers: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Wind generation -&gt; Price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Solar generation -&gt; Price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Load/demand -&gt; Price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Renewables + Load dominate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price 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REGIME 1 (Crisis/High Volatility):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Main drivers: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Gas price -&gt; Price (strong)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Carbon price -&gt; Price (strong)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Coal price -&gt; Price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Fossil fuels + Carbon dominate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(aligns with 2022 energy crisis)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6699"/>
                </a:solidFill>
              </a:defRPr>
            </a:pPr>
            <a:r>
              <a:t>How Does the Setting Matter?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TASK: ESTIMATION vs PREDICTION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Estimation (Y_t | X, Y_{t-1}):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Higher accuracy (recent Y access)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Primarily autoregressive signal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Univariate models excel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Prediction (Y_{t+1} | X, Y_t):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More challenging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Exogenous features more valuable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Causal structure helps generalize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TARGET: DE vs FR vs DE_FR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FR: Highly autoregressive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DS3M_UV achieves rho=0.96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Nuclear baseload = stable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DE: More complex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Higher renewable share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More volatile, regime-dependent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DE_FR: Joint modeling hardest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Cross-country dependencies complex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36699"/>
                </a:solidFill>
              </a:defRPr>
            </a:pPr>
            <a:r>
              <a:t>9. Outlook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6699"/>
                </a:solidFill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1. SEED INITIALIZATION VARIANCE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High variance across seeds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Is this causal or non-causal?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Solutions: Better init, ensembles,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  Bayesian DAG parameters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2. REGIME COLLAPSE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Often converges to 1 regime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Need stronger regularization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Entropy bonus for diversity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3. ADDITIONAL DATA SOURCES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EGAS (TTF): Natural gas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COAL (API2): Coal prices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CARB (EU ETS): Carbon allowances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Weather/demand forecasts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4. MODEL ENHANCEMENTS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Ensembles: Combine seeds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Longer lags (currently lag=1)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/>
            </a:pPr>
            <a:r>
              <a:t>  - Hierarchical DAGs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6699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KEY ACHIEVEMENTS: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  - DS3M-Causal combines regime switching (DS3M) with causal discovery (FANTOM)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  - Sparse DAG learning FIXED: Now learns 3-11 meaningful edges (vs 0 or 324 before)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  - Best results: DE estimation rho=0.75 with LOW VARIANCE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TRADE-OFFS: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  - DS3M_UV better for pure autoregressive tasks (FR)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  - DS3M-Causal better when interpretability needed (DE)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OPEN CHALLENGES: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  - Regime collapse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  - Seed variance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  - Cross-country modeling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                            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